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42aed4d3a465b" /><Relationship Type="http://schemas.openxmlformats.org/officeDocument/2006/relationships/extended-properties" Target="/docProps/app.xml" Id="R283060cfb29c4baf" /><Relationship Type="http://schemas.openxmlformats.org/officeDocument/2006/relationships/officeDocument" Target="/ppt/presentation.xml" Id="R57496ac30b10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e52fa1c91844d0"/>
  </p:sldMasterIdLst>
  <p:notesMasterIdLst>
    <p:notesMasterId xmlns:r="http://schemas.openxmlformats.org/officeDocument/2006/relationships" r:id="R4ba875d9ca804bb2"/>
  </p:notesMasterIdLst>
  <p:sldIdLst>
    <p:sldId xmlns:r="http://schemas.openxmlformats.org/officeDocument/2006/relationships" id="256" r:id="R8278095a5db946ca"/>
    <p:sldId xmlns:r="http://schemas.openxmlformats.org/officeDocument/2006/relationships" id="257" r:id="R68a66115fa2949ef"/>
    <p:sldId xmlns:r="http://schemas.openxmlformats.org/officeDocument/2006/relationships" id="258" r:id="Ra0672a7078be4e4e"/>
    <p:sldId xmlns:r="http://schemas.openxmlformats.org/officeDocument/2006/relationships" id="259" r:id="Rbe096b1308b2416d"/>
    <p:sldId xmlns:r="http://schemas.openxmlformats.org/officeDocument/2006/relationships" id="260" r:id="R6332a439000a4126"/>
    <p:sldId xmlns:r="http://schemas.openxmlformats.org/officeDocument/2006/relationships" id="261" r:id="Rc397306e6d7a4fa9"/>
    <p:sldId xmlns:r="http://schemas.openxmlformats.org/officeDocument/2006/relationships" id="262" r:id="Ra79db5772dac4c59"/>
    <p:sldId xmlns:r="http://schemas.openxmlformats.org/officeDocument/2006/relationships" id="263" r:id="Rf0794c6f21a846aa"/>
    <p:sldId xmlns:r="http://schemas.openxmlformats.org/officeDocument/2006/relationships" id="264" r:id="R3f58de532d7644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b9f4455b348f2" /><Relationship Type="http://schemas.openxmlformats.org/officeDocument/2006/relationships/slideMaster" Target="/ppt/slideMasters/slideMaster1.xml" Id="Rf0e52fa1c91844d0" /><Relationship Type="http://schemas.openxmlformats.org/officeDocument/2006/relationships/notesMaster" Target="/ppt/notesMasters/notesMaster1.xml" Id="R4ba875d9ca804bb2" /><Relationship Type="http://schemas.openxmlformats.org/officeDocument/2006/relationships/presProps" Target="/ppt/presProps.xml" Id="R0d145d60c99e42cc" /><Relationship Type="http://schemas.openxmlformats.org/officeDocument/2006/relationships/tableStyles" Target="/ppt/tableStyles.xml" Id="R6fa311a8cf0144cf" /><Relationship Type="http://schemas.openxmlformats.org/officeDocument/2006/relationships/slide" Target="/ppt/slides/slide1.xml" Id="R8278095a5db946ca" /><Relationship Type="http://schemas.openxmlformats.org/officeDocument/2006/relationships/slide" Target="/ppt/slides/slide2.xml" Id="R68a66115fa2949ef" /><Relationship Type="http://schemas.openxmlformats.org/officeDocument/2006/relationships/slide" Target="/ppt/slides/slide3.xml" Id="Ra0672a7078be4e4e" /><Relationship Type="http://schemas.openxmlformats.org/officeDocument/2006/relationships/slide" Target="/ppt/slides/slide4.xml" Id="Rbe096b1308b2416d" /><Relationship Type="http://schemas.openxmlformats.org/officeDocument/2006/relationships/slide" Target="/ppt/slides/slide5.xml" Id="R6332a439000a4126" /><Relationship Type="http://schemas.openxmlformats.org/officeDocument/2006/relationships/slide" Target="/ppt/slides/slide6.xml" Id="Rc397306e6d7a4fa9" /><Relationship Type="http://schemas.openxmlformats.org/officeDocument/2006/relationships/slide" Target="/ppt/slides/slide7.xml" Id="Ra79db5772dac4c59" /><Relationship Type="http://schemas.openxmlformats.org/officeDocument/2006/relationships/slide" Target="/ppt/slides/slide8.xml" Id="Rf0794c6f21a846aa" /><Relationship Type="http://schemas.openxmlformats.org/officeDocument/2006/relationships/slide" Target="/ppt/slides/slide9.xml" Id="R3f58de532d76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6a0d1832a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1a655be3b4ed4" /><Relationship Type="http://schemas.openxmlformats.org/officeDocument/2006/relationships/notesMaster" Target="/ppt/notesMasters/notesMaster1.xml" Id="Rc9b7a7f297d2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2168c914664ddc" /><Relationship Type="http://schemas.openxmlformats.org/officeDocument/2006/relationships/notesMaster" Target="/ppt/notesMasters/notesMaster1.xml" Id="R6af67638d57a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51c8862f14d92" /><Relationship Type="http://schemas.openxmlformats.org/officeDocument/2006/relationships/notesMaster" Target="/ppt/notesMasters/notesMaster1.xml" Id="R346a3a9b5e0443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f3d19f287349dc" /><Relationship Type="http://schemas.openxmlformats.org/officeDocument/2006/relationships/notesMaster" Target="/ppt/notesMasters/notesMaster1.xml" Id="R4f1a0fd6d7f049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240002fd24416" /><Relationship Type="http://schemas.openxmlformats.org/officeDocument/2006/relationships/notesMaster" Target="/ppt/notesMasters/notesMaster1.xml" Id="R4f63e3cfdfd1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826b879f934bb6" /><Relationship Type="http://schemas.openxmlformats.org/officeDocument/2006/relationships/notesMaster" Target="/ppt/notesMasters/notesMaster1.xml" Id="R7fd7f79c990246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6902bd8044d03" /><Relationship Type="http://schemas.openxmlformats.org/officeDocument/2006/relationships/notesMaster" Target="/ppt/notesMasters/notesMaster1.xml" Id="R09dd6f83b99e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6a2c651c54972" /><Relationship Type="http://schemas.openxmlformats.org/officeDocument/2006/relationships/notesMaster" Target="/ppt/notesMasters/notesMaster1.xml" Id="R362a97bdb46a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91b579f3804031" /><Relationship Type="http://schemas.openxmlformats.org/officeDocument/2006/relationships/notesMaster" Target="/ppt/notesMasters/notesMaster1.xml" Id="R31edfa5427e9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我们选择缺失条件下的表格异常检测可靠性问题。本轮刚完成基础工程和传统流程实验，没有声称此前三周已经完成研究。项目仍处于起步阶段。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三个问题按依赖顺序推进。今晚只验证了第一个问题的基础实验，第二和第三个问题尚未实验。全部实际推进由管理员与AI助手完成，成员分工是后续安排。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来源：MacrOData https://arxiv.org/html/2602.09329v1 ，KDD官网 https://kdd2026.kdd.org/papers/ ，官方DOI https://doi.org/10.1145/3770855.3817520 。ImAD https://proceedings.neurips.cc/paper_files/paper/2024/file/f99f7b22ad47fa6ce151730cf8d17911-Paper-Conference.pdf 。M-DEW https://arxiv.org/html/2405.00182v1 。本轮只核查指定章节和代码，并未完成全面综述。SEAOP 2024摘要与可见片段也涉及扰动稳定性筛选模型，仍待补读全文。近期论文任务拟选ImAD，需向老师确认是否强制从KDD2026入口选论文。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ImAD作者仓库a4963fc976fbb10759717dd6afea51320a5d2639中的data/Arrhythmia/complete_data.npy。文件SHA256为0ccb314f6a395c5e38d06694ae7fad9f4b7d10ad162cb03d47eb047a26ff1810。代码规定0正常1异常。按split=1数量规则新生成并保存划分，不称为论文原索引。论文表1写正常320异常132，与文件386/66不一致，可能混用划分数但尚未证实。HF接口超时，故本轮没有使用MacrOData基准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配置来源：research/config.py与正式运行config.json。种子42、2026、3407同时控制划分、MCAR掩码与Isolation Forest。缺失为伯努利采样，实际比例记录于results.csv。所有方法复用同一掩码。StandardScaler只在含缺失训练集拟合，随后在缩放空间拟合中位数/KNN填补器，最后训练检测器。LOF novelty=True仅评分新测试样本。IF200棵树，KNN5邻居，LOF20邻居。AP使用average_precision_score，不称为梯形PR-AUC。计时在一次预热后分别记录预处理、拟合、评分之和。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\Users\HP\Documents\Codex\2026-10-25\new-chat\outputs\DataMiningResearch\reports\runs\20261025_202939_baseline_07f5d4/summary.csv。绘制3个种子的均值，完整均值±样本SD见CSV、报告及metrics.png。AP为average_precision_score。测试阳性比例0.5，仅是参考，不等于当前小样本随机排名AP的精确期望。该图展示传统对照，无创新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\Users\HP\Documents\Codex\2026-10-25\new-chat\outputs\DataMiningResearch\reports\runs\20261025_202939_baseline_07f5d4/summary.csv。左图为3种子均值，标准差见附表。右侧为30%MCAR下预处理加拟合加评分的平均秒数，已预热。中位数IF的AP略升而ROC-AUC略降，不能用一个指标宣布改善。KNN填补带来额外成本，当前只有小数据单机时间，不能作为大规模复杂度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稳定性尚未实验。候选方案先用无标签校准集额外遮蔽已观测单元，记录Spearman排序相关、固定top-k重叠、分数IQR，识别常量或大量并列的塌缩。与检测准确率的关系只作预登记后的事后诊断，不用测试标签反向确定权重。若进一步融合，统一用校准分数映射，比较等权与稳定性加权，并计算额外成本。若不优于等权或稳定性反向，就保留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详见docs/plan_and_roles.md。第1周10月26日至11月1日，第2周11月2日至8日，第3周11月9日至15日，第4周11月16日至22日，第5周11月23日至29日，第6周11月30日至12月6日仅缓冲。最终截止未确定。各成员状态待本人确认与参与，今晚实际由管理员推进，不能说成三人均已完成。汇报可请求老师确认近期论文是否必须来自KDD2026，以及当前复现方法与基准结合是否符合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11a3a59074c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634ab36ff4e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7a6851cb04f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d8490a21e40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97d6d26264e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b4cce785d40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5EEDF3-25A2-486B-9668-6E4B63D14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0F8455-504C-4C6F-AEF9-3EC4D99E97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692B28-D022-42D5-9A4B-0E3053D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9E4B7A-D8D5-4F3B-8FF0-FA3B1AC98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E1EFB2-978D-412F-8284-C7F20AF2A1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B1C0A2-2B51-420B-9B56-A0820E0BE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3C21E4-5073-4C4C-95A2-41A6E09E5D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2E26E7-E92C-43F4-8306-0730833E55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F372E-6968-40BA-A72C-49F5EEDC4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C43E06-5A42-4CDB-9445-221561107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786d59acf0499e" /><Relationship Type="http://schemas.openxmlformats.org/officeDocument/2006/relationships/slideLayout" Target="/ppt/slideLayouts/slideLayout1.xml" Id="R8d0c1bd8d60c4d5f" /><Relationship Type="http://schemas.openxmlformats.org/officeDocument/2006/relationships/slideLayout" Target="/ppt/slideLayouts/slideLayout2.xml" Id="R40013f6a10b84abc" /><Relationship Type="http://schemas.openxmlformats.org/officeDocument/2006/relationships/slideLayout" Target="/ppt/slideLayouts/slideLayout3.xml" Id="Rad64b49027b544fa" /><Relationship Type="http://schemas.openxmlformats.org/officeDocument/2006/relationships/slideLayout" Target="/ppt/slideLayouts/slideLayout4.xml" Id="R33e725c0208f4502" /><Relationship Type="http://schemas.openxmlformats.org/officeDocument/2006/relationships/slideLayout" Target="/ppt/slideLayouts/slideLayout5.xml" Id="R742c093abc4844db" /><Relationship Type="http://schemas.openxmlformats.org/officeDocument/2006/relationships/slideLayout" Target="/ppt/slideLayouts/slideLayout6.xml" Id="R51d89ff1517b43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c1bd8d60c4d5f"/>
    <p:sldLayoutId xmlns:r="http://schemas.openxmlformats.org/officeDocument/2006/relationships" id="2147483650" r:id="R40013f6a10b84abc"/>
    <p:sldLayoutId xmlns:r="http://schemas.openxmlformats.org/officeDocument/2006/relationships" id="2147483651" r:id="Rad64b49027b544fa"/>
    <p:sldLayoutId xmlns:r="http://schemas.openxmlformats.org/officeDocument/2006/relationships" id="2147483652" r:id="R33e725c0208f4502"/>
    <p:sldLayoutId xmlns:r="http://schemas.openxmlformats.org/officeDocument/2006/relationships" id="2147483653" r:id="R742c093abc4844db"/>
    <p:sldLayoutId xmlns:r="http://schemas.openxmlformats.org/officeDocument/2006/relationships" id="2147483654" r:id="R51d89ff1517b43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66a8291864e66" /><Relationship Type="http://schemas.openxmlformats.org/officeDocument/2006/relationships/notesSlide" Target="/ppt/notesSlides/notesSlide1.xml" Id="Rbca1131c879b4d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2c719d0654b35" /><Relationship Type="http://schemas.openxmlformats.org/officeDocument/2006/relationships/notesSlide" Target="/ppt/notesSlides/notesSlide2.xml" Id="Rf21c711765d1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8f9c444ca4a8d" /><Relationship Type="http://schemas.openxmlformats.org/officeDocument/2006/relationships/notesSlide" Target="/ppt/notesSlides/notesSlide3.xml" Id="R687bef7a8d154b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597d84f60454a" /><Relationship Type="http://schemas.openxmlformats.org/officeDocument/2006/relationships/notesSlide" Target="/ppt/notesSlides/notesSlide4.xml" Id="R358754c041f047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779368ec84182" /><Relationship Type="http://schemas.openxmlformats.org/officeDocument/2006/relationships/notesSlide" Target="/ppt/notesSlides/notesSlide5.xml" Id="R9d9e92cf4b6a4c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764a3cc864953" /><Relationship Type="http://schemas.openxmlformats.org/officeDocument/2006/relationships/chart" Target="/ppt/slides/charts/chart1.xml" Id="Rb81840bf0cf44887" /><Relationship Type="http://schemas.openxmlformats.org/officeDocument/2006/relationships/notesSlide" Target="/ppt/notesSlides/notesSlide6.xml" Id="R7b773ee4348149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519de89b9487a" /><Relationship Type="http://schemas.openxmlformats.org/officeDocument/2006/relationships/chart" Target="/ppt/slides/charts/chart2.xml" Id="R0a256a8e034a4dba" /><Relationship Type="http://schemas.openxmlformats.org/officeDocument/2006/relationships/notesSlide" Target="/ppt/notesSlides/notesSlide7.xml" Id="R409bc86aabdf4d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6a7be3b894f97" /><Relationship Type="http://schemas.openxmlformats.org/officeDocument/2006/relationships/notesSlide" Target="/ppt/notesSlides/notesSlide8.xml" Id="R4018107ddca546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7605f25a44d56" /><Relationship Type="http://schemas.openxmlformats.org/officeDocument/2006/relationships/notesSlide" Target="/ppt/notesSlides/notesSlide9.xml" Id="R4b6b37880d3040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KNN + IF</c:v>
          </c:tx>
          <c:spPr>
            <a:solidFill xmlns:a="http://schemas.openxmlformats.org/drawingml/2006/main">
              <a:srgbClr val="155E92"/>
            </a:solidFill>
            <a:ln xmlns:a="http://schemas.openxmlformats.org/drawingml/2006/main" w="28575">
              <a:solidFill>
                <a:srgbClr val="155E92"/>
              </a:solidFill>
            </a:ln>
          </c:spPr>
          <c:marker>
            <c:symbol val="circle"/>
            <c:size val="7"/>
          </c:marker>
          <c:cat>
            <c:strRef>
              <c:f>'Chart Data'!$A$2:$A$4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0.767316</c:v>
                </c:pt>
                <c:pt idx="1">
                  <c:v>0.777087</c:v>
                </c:pt>
                <c:pt idx="2">
                  <c:v>0.777954</c:v>
                </c:pt>
              </c:numCache>
            </c:numRef>
          </c:val>
        </c:ser>
        <c:ser>
          <c:idx val="1"/>
          <c:order val="1"/>
          <c:tx>
            <c:v>Median + IF</c:v>
          </c:tx>
          <c:spPr>
            <a:solidFill xmlns:a="http://schemas.openxmlformats.org/drawingml/2006/main">
              <a:srgbClr val="CB5C28"/>
            </a:solidFill>
            <a:ln xmlns:a="http://schemas.openxmlformats.org/drawingml/2006/main" w="28575">
              <a:solidFill>
                <a:srgbClr val="CB5C28"/>
              </a:solidFill>
            </a:ln>
          </c:spPr>
          <c:marker>
            <c:symbol val="circle"/>
            <c:size val="7"/>
          </c:marker>
          <c:cat>
            <c:strRef>
              <c:f>'Chart Data'!$C$2:$C$4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0.767316</c:v>
                </c:pt>
                <c:pt idx="1">
                  <c:v>0.76696</c:v>
                </c:pt>
                <c:pt idx="2">
                  <c:v>0.772862</c:v>
                </c:pt>
              </c:numCache>
            </c:numRef>
          </c:val>
        </c:ser>
        <c:ser>
          <c:idx val="2"/>
          <c:order val="2"/>
          <c:tx>
            <c:v>KNN + LOF</c:v>
          </c:tx>
          <c:spPr>
            <a:solidFill xmlns:a="http://schemas.openxmlformats.org/drawingml/2006/main">
              <a:srgbClr val="008A78"/>
            </a:solidFill>
            <a:ln xmlns:a="http://schemas.openxmlformats.org/drawingml/2006/main" w="28575">
              <a:solidFill>
                <a:srgbClr val="008A78"/>
              </a:solidFill>
            </a:ln>
          </c:spPr>
          <c:marker>
            <c:symbol val="circle"/>
            <c:size val="7"/>
          </c:marker>
          <c:cat>
            <c:strRef>
              <c:f>'Chart Data'!$E$2:$E$4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0.714674</c:v>
                </c:pt>
                <c:pt idx="1">
                  <c:v>0.735102</c:v>
                </c:pt>
                <c:pt idx="2">
                  <c:v>0.74564</c:v>
                </c:pt>
              </c:numCache>
            </c:numRef>
          </c:val>
        </c:ser>
        <c:ser>
          <c:idx val="3"/>
          <c:order val="3"/>
          <c:tx>
            <c:v>Median + LOF</c:v>
          </c:tx>
          <c:spPr>
            <a:solidFill xmlns:a="http://schemas.openxmlformats.org/drawingml/2006/main">
              <a:srgbClr val="8B4D9E"/>
            </a:solidFill>
            <a:ln xmlns:a="http://schemas.openxmlformats.org/drawingml/2006/main" w="28575">
              <a:solidFill>
                <a:srgbClr val="8B4D9E"/>
              </a:solidFill>
            </a:ln>
          </c:spPr>
          <c:marker>
            <c:symbol val="circle"/>
            <c:size val="7"/>
          </c:marker>
          <c:cat>
            <c:strRef>
              <c:f>'Chart Data'!$G$2:$G$4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0.714674</c:v>
                </c:pt>
                <c:pt idx="1">
                  <c:v>0.735472</c:v>
                </c:pt>
                <c:pt idx="2">
                  <c:v>0.745016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MCAR 缺失比例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AP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53687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KNN + IF</c:v>
          </c:tx>
          <c:spPr>
            <a:solidFill xmlns:a="http://schemas.openxmlformats.org/drawingml/2006/main">
              <a:srgbClr val="155E92"/>
            </a:solidFill>
            <a:ln xmlns:a="http://schemas.openxmlformats.org/drawingml/2006/main" w="28575">
              <a:solidFill>
                <a:srgbClr val="155E92"/>
              </a:solidFill>
            </a:ln>
          </c:spPr>
          <c:marker>
            <c:symbol val="circle"/>
            <c:size val="7"/>
          </c:marker>
          <c:cat>
            <c:strRef>
              <c:f>'Chart Data'!$A$2:$A$4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0.772804</c:v>
                </c:pt>
                <c:pt idx="1">
                  <c:v>0.778237</c:v>
                </c:pt>
                <c:pt idx="2">
                  <c:v>0.773416</c:v>
                </c:pt>
              </c:numCache>
            </c:numRef>
          </c:val>
        </c:ser>
        <c:ser>
          <c:idx val="1"/>
          <c:order val="1"/>
          <c:tx>
            <c:v>Median + IF</c:v>
          </c:tx>
          <c:spPr>
            <a:solidFill xmlns:a="http://schemas.openxmlformats.org/drawingml/2006/main">
              <a:srgbClr val="CB5C28"/>
            </a:solidFill>
            <a:ln xmlns:a="http://schemas.openxmlformats.org/drawingml/2006/main" w="28575">
              <a:solidFill>
                <a:srgbClr val="CB5C28"/>
              </a:solidFill>
            </a:ln>
          </c:spPr>
          <c:marker>
            <c:symbol val="circle"/>
            <c:size val="7"/>
          </c:marker>
          <c:cat>
            <c:strRef>
              <c:f>'Chart Data'!$C$2:$C$4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0.772804</c:v>
                </c:pt>
                <c:pt idx="1">
                  <c:v>0.771732</c:v>
                </c:pt>
                <c:pt idx="2">
                  <c:v>0.766376</c:v>
                </c:pt>
              </c:numCache>
            </c:numRef>
          </c:val>
        </c:ser>
        <c:ser>
          <c:idx val="2"/>
          <c:order val="2"/>
          <c:tx>
            <c:v>KNN + LOF</c:v>
          </c:tx>
          <c:spPr>
            <a:solidFill xmlns:a="http://schemas.openxmlformats.org/drawingml/2006/main">
              <a:srgbClr val="008A78"/>
            </a:solidFill>
            <a:ln xmlns:a="http://schemas.openxmlformats.org/drawingml/2006/main" w="28575">
              <a:solidFill>
                <a:srgbClr val="008A78"/>
              </a:solidFill>
            </a:ln>
          </c:spPr>
          <c:marker>
            <c:symbol val="circle"/>
            <c:size val="7"/>
          </c:marker>
          <c:cat>
            <c:strRef>
              <c:f>'Chart Data'!$E$2:$E$4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0.738215</c:v>
                </c:pt>
                <c:pt idx="1">
                  <c:v>0.747322</c:v>
                </c:pt>
                <c:pt idx="2">
                  <c:v>0.753826</c:v>
                </c:pt>
              </c:numCache>
            </c:numRef>
          </c:val>
        </c:ser>
        <c:ser>
          <c:idx val="3"/>
          <c:order val="3"/>
          <c:tx>
            <c:v>Median + LOF</c:v>
          </c:tx>
          <c:spPr>
            <a:solidFill xmlns:a="http://schemas.openxmlformats.org/drawingml/2006/main">
              <a:srgbClr val="8B4D9E"/>
            </a:solidFill>
            <a:ln xmlns:a="http://schemas.openxmlformats.org/drawingml/2006/main" w="28575">
              <a:solidFill>
                <a:srgbClr val="8B4D9E"/>
              </a:solidFill>
            </a:ln>
          </c:spPr>
          <c:marker>
            <c:symbol val="circle"/>
            <c:size val="7"/>
          </c:marker>
          <c:cat>
            <c:strRef>
              <c:f>'Chart Data'!$G$2:$G$4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0.738215</c:v>
                </c:pt>
                <c:pt idx="1">
                  <c:v>0.748316</c:v>
                </c:pt>
                <c:pt idx="2">
                  <c:v>0.755586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MCAR 缺失比例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ROC-AUC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53687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8EAE275-260B-4002-BB8D-3747DB21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缺失数据条件下&#10;表格异常检测">
            <a:extLst xmlns:a="http://schemas.openxmlformats.org/drawingml/2006/main">
              <a:ext uri="{FF2B5EF4-FFF2-40B4-BE49-F238E27FC236}">
                <a16:creationId xmlns:a16="http://schemas.microsoft.com/office/drawing/2014/main" id="{4056393D-0F27-49F3-AD50-C322369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缺失数据条件下</a:t>
            </a:r>
          </a:p>
          <a:p xmlns:a="http://schemas.openxmlformats.org/drawingml/2006/main">
            <a:pPr>
              <a:def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表格异常检测</a:t>
            </a:r>
          </a:p>
        </p:txBody>
      </p:sp>
      <p:sp>
        <p:nvSpPr>
          <p:cNvPr id="3" name="鲁棒性评估与轻量改进（拟）">
            <a:extLst xmlns:a="http://schemas.openxmlformats.org/drawingml/2006/main">
              <a:ext uri="{FF2B5EF4-FFF2-40B4-BE49-F238E27FC236}">
                <a16:creationId xmlns:a16="http://schemas.microsoft.com/office/drawing/2014/main" id="{7E9A9CD3-C09E-4ADD-937F-00C88B3B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鲁棒性评估与轻量改进（拟）</a:t>
            </a:r>
          </a:p>
        </p:txBody>
      </p:sp>
      <p:sp>
        <p:nvSpPr>
          <p:cNvPr id="4" name="第八组阶段汇报   2026年10月26日&#10;刘子杨   ">
            <a:extLst xmlns:a="http://schemas.openxmlformats.org/drawingml/2006/main">
              <a:ext uri="{FF2B5EF4-FFF2-40B4-BE49-F238E27FC236}">
                <a16:creationId xmlns:a16="http://schemas.microsoft.com/office/drawing/2014/main" id="{D5A920A0-9D4D-4CD0-AE7C-4505ED24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第八组阶段汇报   2026年10月26日</a:t>
            </a:r>
          </a:p>
          <a:p xmlns:a="http://schemas.openxmlformats.org/drawingml/2006/main">
            <a: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刘子杨   纪景瑞   黎博文</a:t>
            </a:r>
          </a:p>
        </p:txBody>
      </p:sp>
    </p:spTree>
    <p:extLst>
      <p:ext uri="{BB962C8B-B14F-4D97-AF65-F5344CB8AC3E}">
        <p14:creationId xmlns:p14="http://schemas.microsoft.com/office/powerpoint/2010/main" val="1705235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研究问题与当前进度">
            <a:extLst xmlns:a="http://schemas.openxmlformats.org/drawingml/2006/main">
              <a:ext uri="{FF2B5EF4-FFF2-40B4-BE49-F238E27FC236}">
                <a16:creationId xmlns:a16="http://schemas.microsoft.com/office/drawing/2014/main" id="{00F86462-7194-4A4D-8381-331D9C2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研究问题与当前进度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1AAFA74D-51F8-4D0D-9AE1-0D12B449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01   缺失比例增加时，各填补与检测流程如何变化？">
            <a:extLst xmlns:a="http://schemas.openxmlformats.org/drawingml/2006/main">
              <a:ext uri="{FF2B5EF4-FFF2-40B4-BE49-F238E27FC236}">
                <a16:creationId xmlns:a16="http://schemas.microsoft.com/office/drawing/2014/main" id="{E6C136F2-2AF2-445A-8E9F-801DB218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01   缺失比例增加时，各填补与检测流程如何变化？</a:t>
            </a:r>
          </a:p>
        </p:txBody>
      </p:sp>
      <p:sp>
        <p:nvSpPr>
          <p:cNvPr id="4" name="02   总缺失量相同时，分散与集中缺失有何差别？">
            <a:extLst xmlns:a="http://schemas.openxmlformats.org/drawingml/2006/main">
              <a:ext uri="{FF2B5EF4-FFF2-40B4-BE49-F238E27FC236}">
                <a16:creationId xmlns:a16="http://schemas.microsoft.com/office/drawing/2014/main" id="{34626F8C-8BF4-4D48-ACA2-3698B47C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02   总缺失量相同时，分散与集中缺失有何差别？</a:t>
            </a:r>
          </a:p>
        </p:txBody>
      </p:sp>
      <p:sp>
        <p:nvSpPr>
          <p:cNvPr id="5" name="03   无标签扰动稳定性能否帮助诊断流程可靠性？">
            <a:extLst xmlns:a="http://schemas.openxmlformats.org/drawingml/2006/main">
              <a:ext uri="{FF2B5EF4-FFF2-40B4-BE49-F238E27FC236}">
                <a16:creationId xmlns:a16="http://schemas.microsoft.com/office/drawing/2014/main" id="{52242264-8A3B-4B22-92EF-A6E5A38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03   无标签扰动稳定性能否帮助诊断流程可靠性？</a:t>
            </a:r>
          </a:p>
        </p:txBody>
      </p:sp>
      <p:sp>
        <p:nvSpPr>
          <p:cNvPr id="6" name="已完成：真实数据核查、4种传统流程、36个配置&#10;待开展：">
            <a:extLst xmlns:a="http://schemas.openxmlformats.org/drawingml/2006/main">
              <a:ext uri="{FF2B5EF4-FFF2-40B4-BE49-F238E27FC236}">
                <a16:creationId xmlns:a16="http://schemas.microsoft.com/office/drawing/2014/main" id="{1AFCE8C4-B574-48E3-A421-EA381BE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已完成：真实数据核查、4种传统流程、36个配置</a:t>
            </a:r>
          </a:p>
          <a:p xmlns:a="http://schemas.openxmlformats.org/drawingml/2006/main">
            <a: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待开展：ImAD方法复现、集中缺失、稳定性与融合</a:t>
            </a:r>
          </a:p>
        </p:txBody>
      </p:sp>
    </p:spTree>
    <p:extLst>
      <p:ext uri="{BB962C8B-B14F-4D97-AF65-F5344CB8AC3E}">
        <p14:creationId xmlns:p14="http://schemas.microsoft.com/office/powerpoint/2010/main" val="1219878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近期研究与创新边界">
            <a:extLst xmlns:a="http://schemas.openxmlformats.org/drawingml/2006/main">
              <a:ext uri="{FF2B5EF4-FFF2-40B4-BE49-F238E27FC236}">
                <a16:creationId xmlns:a16="http://schemas.microsoft.com/office/drawing/2014/main" id="{B212A2A6-64A5-4C30-854A-8B94BFE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近期研究与创新边界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31B16FD8-6B81-45FC-8804-A545915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94881-22F8-4A53-8338-B430B111C679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809750"/>
                <a:gridCol w="3714750"/>
                <a:gridCol w="3343275"/>
              </a:tblGrid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与项目的关系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</a:tr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MacrOData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KDD 2026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数据集与基准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新基准不等于新方法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核查正文与代码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本机数据获取受阻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ImAD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NeurIPS 2024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正式方法论文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缺失异常检测与填补偏差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拟复现方法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今晚未运行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M-DEW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v1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已核实为预印本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已有动态流程加权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能力估计使用标签误差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核查算法与设置</a:t>
                      </a:r>
                    </a:p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未复现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候选调整：先研究稳定性诊断的失效条件，再决定是否融合">
            <a:extLst xmlns:a="http://schemas.openxmlformats.org/drawingml/2006/main">
              <a:ext uri="{FF2B5EF4-FFF2-40B4-BE49-F238E27FC236}">
                <a16:creationId xmlns:a16="http://schemas.microsoft.com/office/drawing/2014/main" id="{0D530FDB-070A-4FB2-BE5D-B04CB80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候选调整：先研究稳定性诊断的失效条件，再决定是否融合</a:t>
            </a:r>
          </a:p>
        </p:txBody>
      </p:sp>
    </p:spTree>
    <p:extLst>
      <p:ext uri="{BB962C8B-B14F-4D97-AF65-F5344CB8AC3E}">
        <p14:creationId xmlns:p14="http://schemas.microsoft.com/office/powerpoint/2010/main" val="1584130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真实数据与划分">
            <a:extLst xmlns:a="http://schemas.openxmlformats.org/drawingml/2006/main">
              <a:ext uri="{FF2B5EF4-FFF2-40B4-BE49-F238E27FC236}">
                <a16:creationId xmlns:a16="http://schemas.microsoft.com/office/drawing/2014/main" id="{F7E462F2-2706-428E-B4EC-7F15D7D1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真实数据与划分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F39D998C-EC48-4D76-BAAB-3DBA970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452">
            <a:extLst xmlns:a="http://schemas.openxmlformats.org/drawingml/2006/main">
              <a:ext uri="{FF2B5EF4-FFF2-40B4-BE49-F238E27FC236}">
                <a16:creationId xmlns:a16="http://schemas.microsoft.com/office/drawing/2014/main" id="{6FCB2DB6-2ECF-425A-A3E1-FB8EB72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452</a:t>
            </a:r>
          </a:p>
        </p:txBody>
      </p:sp>
      <p:sp>
        <p:nvSpPr>
          <p:cNvPr id="4" name="样本">
            <a:extLst xmlns:a="http://schemas.openxmlformats.org/drawingml/2006/main">
              <a:ext uri="{FF2B5EF4-FFF2-40B4-BE49-F238E27FC236}">
                <a16:creationId xmlns:a16="http://schemas.microsoft.com/office/drawing/2014/main" id="{0E3F8B0F-A07E-4A6A-94E4-6316E81C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样本</a:t>
            </a:r>
          </a:p>
        </p:txBody>
      </p:sp>
      <p:sp>
        <p:nvSpPr>
          <p:cNvPr id="5" name="274">
            <a:extLst xmlns:a="http://schemas.openxmlformats.org/drawingml/2006/main">
              <a:ext uri="{FF2B5EF4-FFF2-40B4-BE49-F238E27FC236}">
                <a16:creationId xmlns:a16="http://schemas.microsoft.com/office/drawing/2014/main" id="{55DFE00E-7E5F-4E21-AFA7-640D33FF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274</a:t>
            </a:r>
          </a:p>
        </p:txBody>
      </p:sp>
      <p:sp>
        <p:nvSpPr>
          <p:cNvPr id="6" name="特征，标签单独存放">
            <a:extLst xmlns:a="http://schemas.openxmlformats.org/drawingml/2006/main">
              <a:ext uri="{FF2B5EF4-FFF2-40B4-BE49-F238E27FC236}">
                <a16:creationId xmlns:a16="http://schemas.microsoft.com/office/drawing/2014/main" id="{3274C177-5625-42A1-B5DB-510E7E1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特征，标签单独存放</a:t>
            </a:r>
          </a:p>
        </p:txBody>
      </p:sp>
      <p:sp>
        <p:nvSpPr>
          <p:cNvPr id="7" name="0">
            <a:extLst xmlns:a="http://schemas.openxmlformats.org/drawingml/2006/main">
              <a:ext uri="{FF2B5EF4-FFF2-40B4-BE49-F238E27FC236}">
                <a16:creationId xmlns:a16="http://schemas.microsoft.com/office/drawing/2014/main" id="{2C761CBF-0022-43CA-A3DE-538F40DD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原始缺失单元">
            <a:extLst xmlns:a="http://schemas.openxmlformats.org/drawingml/2006/main">
              <a:ext uri="{FF2B5EF4-FFF2-40B4-BE49-F238E27FC236}">
                <a16:creationId xmlns:a16="http://schemas.microsoft.com/office/drawing/2014/main" id="{FDBE1602-F867-4C1F-B8ED-F2F7C818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原始缺失单元</a:t>
            </a:r>
          </a:p>
        </p:txBody>
      </p:sp>
      <p:sp>
        <p:nvSpPr>
          <p:cNvPr id="9" name="训练集：320个正常样本">
            <a:extLst xmlns:a="http://schemas.openxmlformats.org/drawingml/2006/main">
              <a:ext uri="{FF2B5EF4-FFF2-40B4-BE49-F238E27FC236}">
                <a16:creationId xmlns:a16="http://schemas.microsoft.com/office/drawing/2014/main" id="{4FEB62A0-23BE-4318-81BD-60F75A8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训练集：320个正常样本</a:t>
            </a:r>
          </a:p>
        </p:txBody>
      </p:sp>
      <p:sp>
        <p:nvSpPr>
          <p:cNvPr id="10" name="测试集：66个正常样本 + 66个异常样本">
            <a:extLst xmlns:a="http://schemas.openxmlformats.org/drawingml/2006/main">
              <a:ext uri="{FF2B5EF4-FFF2-40B4-BE49-F238E27FC236}">
                <a16:creationId xmlns:a16="http://schemas.microsoft.com/office/drawing/2014/main" id="{E245AD36-3E00-4CCB-BB01-C3EA46C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测试集：66个正常样本 + 66个异常样本</a:t>
            </a:r>
          </a:p>
        </p:txBody>
      </p:sp>
      <p:sp>
        <p:nvSpPr>
          <p:cNvPr id="11" name="注意：测试异常比例50%，AP不能直接外推到稀有异常应用">
            <a:extLst xmlns:a="http://schemas.openxmlformats.org/drawingml/2006/main">
              <a:ext uri="{FF2B5EF4-FFF2-40B4-BE49-F238E27FC236}">
                <a16:creationId xmlns:a16="http://schemas.microsoft.com/office/drawing/2014/main" id="{32BF159D-740F-44FE-A116-FC57115A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注意：测试异常比例50%，AP不能直接外推到稀有异常应用</a:t>
            </a:r>
          </a:p>
        </p:txBody>
      </p:sp>
      <p:sp>
        <p:nvSpPr>
          <p:cNvPr id="12" name="按官方代码数量规则重新保存划分。论文表格与文件类别数差异">
            <a:extLst xmlns:a="http://schemas.openxmlformats.org/drawingml/2006/main">
              <a:ext uri="{FF2B5EF4-FFF2-40B4-BE49-F238E27FC236}">
                <a16:creationId xmlns:a16="http://schemas.microsoft.com/office/drawing/2014/main" id="{3069DB8D-ED6F-4013-BF54-8541388C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按官方代码数量规则重新保存划分。论文表格与文件类别数差异已记录</a:t>
            </a:r>
          </a:p>
        </p:txBody>
      </p:sp>
    </p:spTree>
    <p:extLst>
      <p:ext uri="{BB962C8B-B14F-4D97-AF65-F5344CB8AC3E}">
        <p14:creationId xmlns:p14="http://schemas.microsoft.com/office/powerpoint/2010/main" val="1538266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基础实验协议">
            <a:extLst xmlns:a="http://schemas.openxmlformats.org/drawingml/2006/main">
              <a:ext uri="{FF2B5EF4-FFF2-40B4-BE49-F238E27FC236}">
                <a16:creationId xmlns:a16="http://schemas.microsoft.com/office/drawing/2014/main" id="{D293D4C5-DB96-4D50-A841-4139B54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基础实验协议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132D6BD9-DA80-4A1F-A032-F499C6E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FC56A-DF96-47DA-B3B2-CEFFA168AE3F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619500"/>
                <a:gridCol w="4152900"/>
              </a:tblGrid>
              <a:tr h="714375"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填补方式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固定参数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</a:tr>
              <a:tr h="714375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中位数 / KNN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Isolation Forest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200棵树，单进程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中位数 / KNN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20邻居，novelty=True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4" name="0% / 10% / 30% MCAR，训练与测试均遮蔽">
            <a:extLst xmlns:a="http://schemas.openxmlformats.org/drawingml/2006/main">
              <a:ext uri="{FF2B5EF4-FFF2-40B4-BE49-F238E27FC236}">
                <a16:creationId xmlns:a16="http://schemas.microsoft.com/office/drawing/2014/main" id="{71A38A83-5DB1-406C-A832-FF77D469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0% / 10% / 30% MCAR，训练与测试均遮蔽</a:t>
            </a:r>
          </a:p>
          <a:p xmlns:a="http://schemas.openxmlformats.org/drawingml/2006/main">
            <a: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3个固定种子，配对复用划分和掩码</a:t>
            </a:r>
          </a:p>
        </p:txBody>
      </p:sp>
      <p:sp>
        <p:nvSpPr>
          <p:cNvPr id="5" name="所有处理仅拟合训练集。测试标签只计算AP与ROC-AUC">
            <a:extLst xmlns:a="http://schemas.openxmlformats.org/drawingml/2006/main">
              <a:ext uri="{FF2B5EF4-FFF2-40B4-BE49-F238E27FC236}">
                <a16:creationId xmlns:a16="http://schemas.microsoft.com/office/drawing/2014/main" id="{1236F15E-D0C2-43E1-97B1-0E5051C3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所有处理仅拟合训练集。测试标签只计算AP与ROC-AUC</a:t>
            </a:r>
          </a:p>
          <a:p xmlns:a="http://schemas.openxmlformats.org/drawingml/2006/main">
            <a:pPr>
              <a:def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6项协议检查通过，36个正式配置全部成功</a:t>
            </a:r>
          </a:p>
        </p:txBody>
      </p:sp>
    </p:spTree>
    <p:extLst>
      <p:ext uri="{BB962C8B-B14F-4D97-AF65-F5344CB8AC3E}">
        <p14:creationId xmlns:p14="http://schemas.microsoft.com/office/powerpoint/2010/main" val="297027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的变化并非统一下降">
            <a:extLst xmlns:a="http://schemas.openxmlformats.org/drawingml/2006/main">
              <a:ext uri="{FF2B5EF4-FFF2-40B4-BE49-F238E27FC236}">
                <a16:creationId xmlns:a16="http://schemas.microsoft.com/office/drawing/2014/main" id="{DAC3A225-A39D-413B-B397-01FBE7FD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AP的变化并非统一下降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2A366328-3EDD-4309-BABB-F746924D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6C2501A-50D5-4E76-B653-E3C1CF92E78B}"/>
              </a:ext>
            </a:extLst>
          </p:cNvPr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10620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1840bf0cf44887"/>
          </a:graphicData>
        </a:graphic>
      </p:graphicFrame>
      <p:sp>
        <p:nvSpPr>
          <p:cNvPr id="4" name="3种子均值，误差见报告附表。测试阳性比例为0.50">
            <a:extLst xmlns:a="http://schemas.openxmlformats.org/drawingml/2006/main">
              <a:ext uri="{FF2B5EF4-FFF2-40B4-BE49-F238E27FC236}">
                <a16:creationId xmlns:a16="http://schemas.microsoft.com/office/drawing/2014/main" id="{162E9F16-9642-4959-A5A7-9172B74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3种子均值，误差见报告附表。测试阳性比例为0.50</a:t>
            </a:r>
          </a:p>
        </p:txBody>
      </p:sp>
      <p:sp>
        <p:nvSpPr>
          <p:cNvPr id="5" name="中位数 + LOF：完整数据0.7147，30%缺失0.">
            <a:extLst xmlns:a="http://schemas.openxmlformats.org/drawingml/2006/main">
              <a:ext uri="{FF2B5EF4-FFF2-40B4-BE49-F238E27FC236}">
                <a16:creationId xmlns:a16="http://schemas.microsoft.com/office/drawing/2014/main" id="{BF960E32-FA18-4463-AD47-C46139BF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中位数 + LOF：完整数据0.7147，30%缺失0.7450</a:t>
            </a:r>
          </a:p>
        </p:txBody>
      </p:sp>
    </p:spTree>
    <p:extLst>
      <p:ext uri="{BB962C8B-B14F-4D97-AF65-F5344CB8AC3E}">
        <p14:creationId xmlns:p14="http://schemas.microsoft.com/office/powerpoint/2010/main" val="1587708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C-AUC与计算成本">
            <a:extLst xmlns:a="http://schemas.openxmlformats.org/drawingml/2006/main">
              <a:ext uri="{FF2B5EF4-FFF2-40B4-BE49-F238E27FC236}">
                <a16:creationId xmlns:a16="http://schemas.microsoft.com/office/drawing/2014/main" id="{2733810F-3D07-41A1-B14B-FFD288AA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ROC-AUC与计算成本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DE0D0B1D-2699-4B98-A43A-0A1A7E8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2E3DE2C-B4B2-4189-BFF2-3A0B867EBDBA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256a8e034a4dba"/>
          </a:graphicData>
        </a:graphic>
      </p:graphicFrame>
      <p:sp>
        <p:nvSpPr>
          <p:cNvPr id="4" name="30%缺失时的平均秒数">
            <a:extLst xmlns:a="http://schemas.openxmlformats.org/drawingml/2006/main">
              <a:ext uri="{FF2B5EF4-FFF2-40B4-BE49-F238E27FC236}">
                <a16:creationId xmlns:a16="http://schemas.microsoft.com/office/drawing/2014/main" id="{438CED5D-426B-407D-BCB0-4FCC4581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30%缺失时的平均秒数</a:t>
            </a:r>
          </a:p>
        </p:txBody>
      </p:sp>
      <p:sp>
        <p:nvSpPr>
          <p:cNvPr id="5" name="中位数 + IF&#10;0.143 秒">
            <a:extLst xmlns:a="http://schemas.openxmlformats.org/drawingml/2006/main">
              <a:ext uri="{FF2B5EF4-FFF2-40B4-BE49-F238E27FC236}">
                <a16:creationId xmlns:a16="http://schemas.microsoft.com/office/drawing/2014/main" id="{301768BD-8EFB-4323-8460-1C16089A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中位数 + IF</a:t>
            </a:r>
          </a:p>
          <a:p xmlns:a="http://schemas.openxmlformats.org/drawingml/2006/main">
            <a: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0.143 秒</a:t>
            </a:r>
          </a:p>
        </p:txBody>
      </p:sp>
      <p:sp>
        <p:nvSpPr>
          <p:cNvPr id="6" name="KNN + IF&#10;0.347 秒">
            <a:extLst xmlns:a="http://schemas.openxmlformats.org/drawingml/2006/main">
              <a:ext uri="{FF2B5EF4-FFF2-40B4-BE49-F238E27FC236}">
                <a16:creationId xmlns:a16="http://schemas.microsoft.com/office/drawing/2014/main" id="{4989760F-3836-40C0-8712-484D7BD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385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KNN + IF</a:t>
            </a:r>
          </a:p>
          <a:p xmlns:a="http://schemas.openxmlformats.org/drawingml/2006/main">
            <a:pPr>
              <a:def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0.347 秒</a:t>
            </a:r>
          </a:p>
        </p:txBody>
      </p:sp>
      <p:sp>
        <p:nvSpPr>
          <p:cNvPr id="7" name="中位数 + LOF&#10;0.012 秒">
            <a:extLst xmlns:a="http://schemas.openxmlformats.org/drawingml/2006/main">
              <a:ext uri="{FF2B5EF4-FFF2-40B4-BE49-F238E27FC236}">
                <a16:creationId xmlns:a16="http://schemas.microsoft.com/office/drawing/2014/main" id="{754EA36F-DA66-4A9D-B2B7-F072BC08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624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rPr>
              <a:t>中位数 + LOF</a:t>
            </a:r>
          </a:p>
          <a:p xmlns:a="http://schemas.openxmlformats.org/drawingml/2006/main">
            <a: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rPr>
              <a:t>0.012 秒</a:t>
            </a:r>
          </a:p>
        </p:txBody>
      </p:sp>
      <p:sp>
        <p:nvSpPr>
          <p:cNvPr id="8" name="KNN + LOF&#10;0.209 秒">
            <a:extLst xmlns:a="http://schemas.openxmlformats.org/drawingml/2006/main">
              <a:ext uri="{FF2B5EF4-FFF2-40B4-BE49-F238E27FC236}">
                <a16:creationId xmlns:a16="http://schemas.microsoft.com/office/drawing/2014/main" id="{3BC2FBFE-CF1C-46E2-A67F-891D426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863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rPr>
              <a:t>KNN + LOF</a:t>
            </a:r>
          </a:p>
          <a:p xmlns:a="http://schemas.openxmlformats.org/drawingml/2006/main">
            <a:pPr>
              <a:def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A78"/>
                </a:solidFill>
                <a:latin typeface="Microsoft YaHei"/>
                <a:ea typeface="Microsoft YaHei"/>
                <a:cs typeface="Microsoft YaHei"/>
              </a:rPr>
              <a:t>0.209 秒</a:t>
            </a:r>
          </a:p>
        </p:txBody>
      </p:sp>
      <p:sp>
        <p:nvSpPr>
          <p:cNvPr id="9" name="中位数 + IF：ROC-AUC 0.7728变为0.7">
            <a:extLst xmlns:a="http://schemas.openxmlformats.org/drawingml/2006/main">
              <a:ext uri="{FF2B5EF4-FFF2-40B4-BE49-F238E27FC236}">
                <a16:creationId xmlns:a16="http://schemas.microsoft.com/office/drawing/2014/main" id="{C9153E18-442F-46DC-87A5-14D07C8B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中位数 + IF：ROC-AUC 0.7728变为0.7664</a:t>
            </a:r>
          </a:p>
          <a:p xmlns:a="http://schemas.openxmlformats.org/drawingml/2006/main">
            <a:pPr>
              <a:def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少量种子、单一数据集，暂不作总体优劣结论</a:t>
            </a:r>
          </a:p>
        </p:txBody>
      </p:sp>
    </p:spTree>
    <p:extLst>
      <p:ext uri="{BB962C8B-B14F-4D97-AF65-F5344CB8AC3E}">
        <p14:creationId xmlns:p14="http://schemas.microsoft.com/office/powerpoint/2010/main" val="321952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候选假设与证据边界">
            <a:extLst xmlns:a="http://schemas.openxmlformats.org/drawingml/2006/main">
              <a:ext uri="{FF2B5EF4-FFF2-40B4-BE49-F238E27FC236}">
                <a16:creationId xmlns:a16="http://schemas.microsoft.com/office/drawing/2014/main" id="{C40CA109-1802-44DE-A8D6-615DCB71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候选假设与证据边界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B0A706BF-CADD-49A6-B91E-EA3EAC5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“稳定”可能来自分数塌缩，不能直接等同“准确”">
            <a:extLst xmlns:a="http://schemas.openxmlformats.org/drawingml/2006/main">
              <a:ext uri="{FF2B5EF4-FFF2-40B4-BE49-F238E27FC236}">
                <a16:creationId xmlns:a16="http://schemas.microsoft.com/office/drawing/2014/main" id="{7CF8C5F5-60C1-419D-9885-5FC2E23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“稳定”可能来自分数塌缩，不能直接等同“准确”</a:t>
            </a:r>
          </a:p>
        </p:txBody>
      </p:sp>
      <p:sp>
        <p:nvSpPr>
          <p:cNvPr id="4" name="先测排序稳定性与检测质量的关系，保留反例">
            <a:extLst xmlns:a="http://schemas.openxmlformats.org/drawingml/2006/main">
              <a:ext uri="{FF2B5EF4-FFF2-40B4-BE49-F238E27FC236}">
                <a16:creationId xmlns:a16="http://schemas.microsoft.com/office/drawing/2014/main" id="{13B230A8-4C0D-4135-8E01-95393C31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先测排序稳定性与检测质量的关系，保留反例</a:t>
            </a:r>
          </a:p>
        </p:txBody>
      </p:sp>
      <p:sp>
        <p:nvSpPr>
          <p:cNvPr id="5" name="若进一步融合，必须包含等权对照、塌缩保护和耗时评价">
            <a:extLst xmlns:a="http://schemas.openxmlformats.org/drawingml/2006/main">
              <a:ext uri="{FF2B5EF4-FFF2-40B4-BE49-F238E27FC236}">
                <a16:creationId xmlns:a16="http://schemas.microsoft.com/office/drawing/2014/main" id="{BE4566FC-2BBD-4BEB-BCEE-6E26C19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若进一步融合，必须包含等权对照、塌缩保护和耗时评价</a:t>
            </a:r>
          </a:p>
        </p:txBody>
      </p:sp>
      <p:sp>
        <p:nvSpPr>
          <p:cNvPr id="6" name="尚未验证：集中缺失、稳定性关联、融合效果&#10;尚未完成：Im">
            <a:extLst xmlns:a="http://schemas.openxmlformats.org/drawingml/2006/main">
              <a:ext uri="{FF2B5EF4-FFF2-40B4-BE49-F238E27FC236}">
                <a16:creationId xmlns:a16="http://schemas.microsoft.com/office/drawing/2014/main" id="{F9977A76-E47A-467B-A026-8460D654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尚未验证：集中缺失、稳定性关联、融合效果</a:t>
            </a:r>
          </a:p>
          <a:p xmlns:a="http://schemas.openxmlformats.org/drawingml/2006/main">
            <a:pPr>
              <a:def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E92"/>
                </a:solidFill>
                <a:latin typeface="Microsoft YaHei"/>
                <a:ea typeface="Microsoft YaHei"/>
                <a:cs typeface="Microsoft YaHei"/>
              </a:rPr>
              <a:t>尚未完成：ImAD方法复现与全面综述</a:t>
            </a:r>
          </a:p>
        </p:txBody>
      </p:sp>
    </p:spTree>
    <p:extLst>
      <p:ext uri="{BB962C8B-B14F-4D97-AF65-F5344CB8AC3E}">
        <p14:creationId xmlns:p14="http://schemas.microsoft.com/office/powerpoint/2010/main" val="1040340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后续五周计划与拟分工">
            <a:extLst xmlns:a="http://schemas.openxmlformats.org/drawingml/2006/main">
              <a:ext uri="{FF2B5EF4-FFF2-40B4-BE49-F238E27FC236}">
                <a16:creationId xmlns:a16="http://schemas.microsoft.com/office/drawing/2014/main" id="{DAFDB022-CC8C-41E2-A194-59097667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后续五周计划与拟分工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CD3908B-8679-4CD8-AB22-B73334F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第1至2周   文献与数据登记，完成ImAD小规模运行&#10;">
            <a:extLst xmlns:a="http://schemas.openxmlformats.org/drawingml/2006/main">
              <a:ext uri="{FF2B5EF4-FFF2-40B4-BE49-F238E27FC236}">
                <a16:creationId xmlns:a16="http://schemas.microsoft.com/office/drawing/2014/main" id="{8E93CB49-A36E-4C06-9C99-D0E859E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第1至2周   文献与数据登记，完成ImAD小规模运行</a:t>
            </a:r>
          </a:p>
          <a:p xmlns:a="http://schemas.openxmlformats.org/drawingml/2006/main">
            <a: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第3至4周   集中缺失对照，检验稳定性诊断与必要消融</a:t>
            </a:r>
          </a:p>
          <a:p xmlns:a="http://schemas.openxmlformats.org/drawingml/2006/main">
            <a:pPr>
              <a:def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C3B"/>
                </a:solidFill>
                <a:latin typeface="Microsoft YaHei"/>
                <a:ea typeface="Microsoft YaHei"/>
                <a:cs typeface="Microsoft YaHei"/>
              </a:rPr>
              <a:t>第5周        完整报告、综述、代码和答辩，第6周缓冲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02BE6-B638-4AC6-8548-7AC8BCA45347}"/>
              </a:ext>
            </a:extLst>
          </p:cNvPr>
          <p:cNvGraphicFramePr/>
          <p:nvPr/>
        </p:nvGraphicFramePr>
        <p:xfrm>
          <a:off xmlns:a="http://schemas.openxmlformats.org/drawingml/2006/main" x="685800" y="3714750"/>
          <a:ext xmlns:a="http://schemas.openxmlformats.org/drawingml/2006/main" cx="108204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857500"/>
                <a:gridCol w="5962650"/>
              </a:tblGrid>
              <a:tr h="583406"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拟主责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173F56"/>
                    </a:solidFill>
                  </a:tcPr>
                </a:tc>
              </a:tr>
              <a:tr h="5834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刘子杨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文献与统筹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有原文定位的阅读矩阵、综述与汇报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纪景瑞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数据与缺失模拟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可校验数据、划分与匹配缺失量掩码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5834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黎博文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方法与实验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72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ImAD运行、完整结果与失败记录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76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2026-10-25T12:37:24.0670000Z</dcterms:created>
  <dcterms:modified xsi:type="dcterms:W3CDTF">2026-10-25T12:37:24.0670000Z</dcterms:modified>
</coreProperties>
</file>